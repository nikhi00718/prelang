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2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d976c1ff-c4e5-abb5-cbe4-72ef9d200d93}">
          <p14:sldIdLst>
            <p14:sldId id="256"/>
            <p14:sldId id="257"/>
          </p14:sldIdLst>
        </p14:section>
        <p14:section name="Design" id="{8d9bd3f8-0b8f-7d89-0d3f-0685ba455c42}">
          <p14:sldIdLst>
            <p14:sldId id="258"/>
            <p14:sldId id="259"/>
            <p14:sldId id="260"/>
            <p14:sldId id="261"/>
          </p14:sldIdLst>
        </p14:section>
        <p14:section name="New in Phase 3" id="{c66ac1cc-dbf9-0c62-fdfb-6d35311db38b}">
          <p14:sldIdLst>
            <p14:sldId id="262"/>
            <p14:sldId id="263"/>
            <p14:sldId id="264"/>
            <p14:sldId id="265"/>
            <p14:sldId id="266"/>
          </p14:sldIdLst>
        </p14:section>
        <p14:section name="Results" id="{0852f5a6-16e2-c20e-f8ef-16bd5c65ea90}">
          <p14:sldIdLst>
            <p14:sldId id="267"/>
            <p14:sldId id="268"/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Batches admitted (%)</c:v>
                </c:pt>
              </c:strCache>
            </c:strRef>
          </c:tx>
          <c:spPr>
            <a:solidFill>
              <a:srgbClr val="E8A33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Fingerprint</c:v>
                  </c:pt>
                  <c:pt idx="1">
                    <c:v>All facts of the file (TFDV-style)</c:v>
                  </c:pt>
                  <c:pt idx="2">
                    <c:v>Data certificate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</c:v>
                </c:pt>
                <c:pt idx="1">
                  <c:v>39</c:v>
                </c:pt>
                <c:pt idx="2">
                  <c:v>86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B24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43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seconds</c:v>
                </c:pt>
              </c:strCache>
            </c:strRef>
          </c:tx>
          <c:spPr>
            <a:solidFill>
              <a:srgbClr val="23867A"/>
            </a:solidFill>
            <a:effectLst/>
          </c:spPr>
          <c:invertIfNegative val="0"/>
          <c:dLbls>
            <c:numFmt formatCode="0.00&quot; s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PrepLang compile (all checks)</c:v>
                  </c:pt>
                  <c:pt idx="1">
                    <c:v>pandas read, pyarrow engine</c:v>
                  </c:pt>
                  <c:pt idx="2">
                    <c:v>pandas read, C engine</c:v>
                  </c:pt>
                  <c:pt idx="3">
                    <c:v>PrepLang, Phase 2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0.13</c:v>
                </c:pt>
                <c:pt idx="1">
                  <c:v>0.11</c:v>
                </c:pt>
                <c:pt idx="2">
                  <c:v>0.62</c:v>
                </c:pt>
                <c:pt idx="3">
                  <c:v>2.04</c:v>
                </c:pt>
              </c:numCache>
            </c:numRef>
          </c:val>
        </c:ser>
        <c:dLbls>
          <c:numFmt formatCode="0.00&quot; s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B24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43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PrepLang is a language for cleaning data before machine learning, and this is its compiler, written in C++17.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Measured on 3,000 JPG images: the hand-written script finishes and writes black images; PrepLang refuses to compile.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18872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PrepLang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1031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data-aware compiler for table and image preprocessing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10896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Compiler Design Laboratory (BCSE307P)  ·  Phase 3: Final Implementation and Testing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5204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V.Nikhil  ·  24BAI0073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412480" y="475488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Data-cleaning scripts fail late, or silently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97280"/>
            <a:ext cx="45720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pandas or OpenCV script only learns that its assumptions are wrong while it runs over the data.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misspelled column crashes it halfway through.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word in a number column breaks a type conversion.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Decimal pixels saved as PNG finish without an error and every image is black.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394960" y="1097280"/>
            <a:ext cx="3291840" cy="3291840"/>
          </a:xfrm>
          <a:prstGeom prst="roundRect">
            <a:avLst>
              <a:gd name="adj" fmla="val 2222"/>
            </a:avLst>
          </a:prstGeom>
          <a:solidFill>
            <a:srgbClr val="EEF1F4"/>
          </a:solidFill>
          <a:ln w="12700">
            <a:solidFill>
              <a:srgbClr val="EEF1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623560" y="128016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8.5 s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5623560" y="196596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script runs on 3,000 images, then writes black files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623560" y="274320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386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0.26 s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5623560" y="34290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PrepLang reports the mistake at compile time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412480" y="475488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idea: the data is a compile-time input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1874520" cy="960120"/>
          </a:xfrm>
          <a:prstGeom prst="roundRect">
            <a:avLst>
              <a:gd name="adj" fmla="val 7619"/>
            </a:avLst>
          </a:prstGeom>
          <a:solidFill>
            <a:srgbClr val="EEF1F4"/>
          </a:solidFill>
          <a:ln w="12700">
            <a:solidFill>
              <a:srgbClr val="EEF1F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66928" y="1344168"/>
            <a:ext cx="329184" cy="329184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66928" y="13441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69164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Lexer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560320" y="1234440"/>
            <a:ext cx="1874520" cy="960120"/>
          </a:xfrm>
          <a:prstGeom prst="roundRect">
            <a:avLst>
              <a:gd name="adj" fmla="val 7619"/>
            </a:avLst>
          </a:prstGeom>
          <a:solidFill>
            <a:srgbClr val="EEF1F4"/>
          </a:solidFill>
          <a:ln w="12700">
            <a:solidFill>
              <a:srgbClr val="EEF1F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670048" y="1344168"/>
            <a:ext cx="329184" cy="329184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670048" y="13441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670048" y="169164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LL(1) parser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663440" y="1234440"/>
            <a:ext cx="1874520" cy="960120"/>
          </a:xfrm>
          <a:prstGeom prst="roundRect">
            <a:avLst>
              <a:gd name="adj" fmla="val 7619"/>
            </a:avLst>
          </a:prstGeom>
          <a:solidFill>
            <a:srgbClr val="EEF1F4"/>
          </a:solidFill>
          <a:ln w="12700">
            <a:solidFill>
              <a:srgbClr val="EEF1F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773168" y="1344168"/>
            <a:ext cx="329184" cy="329184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73168" y="13441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773168" y="169164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766560" y="1234440"/>
            <a:ext cx="1874520" cy="960120"/>
          </a:xfrm>
          <a:prstGeom prst="roundRect">
            <a:avLst>
              <a:gd name="adj" fmla="val 7619"/>
            </a:avLst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876288" y="1344168"/>
            <a:ext cx="329184" cy="329184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76288" y="13441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876288" y="169164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analysis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(reads the data)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2560320"/>
            <a:ext cx="1874520" cy="960120"/>
          </a:xfrm>
          <a:prstGeom prst="roundRect">
            <a:avLst>
              <a:gd name="adj" fmla="val 7619"/>
            </a:avLst>
          </a:prstGeom>
          <a:solidFill>
            <a:srgbClr val="EEF1F4"/>
          </a:solidFill>
          <a:ln w="12700">
            <a:solidFill>
              <a:srgbClr val="EEF1F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66928" y="2670048"/>
            <a:ext cx="329184" cy="329184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66928" y="2670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301752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address code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2560320" y="2560320"/>
            <a:ext cx="1874520" cy="960120"/>
          </a:xfrm>
          <a:prstGeom prst="roundRect">
            <a:avLst>
              <a:gd name="adj" fmla="val 7619"/>
            </a:avLst>
          </a:prstGeom>
          <a:solidFill>
            <a:srgbClr val="EEF1F4"/>
          </a:solidFill>
          <a:ln w="12700">
            <a:solidFill>
              <a:srgbClr val="EEF1F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670048" y="2670048"/>
            <a:ext cx="329184" cy="329184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670048" y="2670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2670048" y="301752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2560320"/>
            <a:ext cx="1874520" cy="960120"/>
          </a:xfrm>
          <a:prstGeom prst="roundRect">
            <a:avLst>
              <a:gd name="adj" fmla="val 7619"/>
            </a:avLst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773168" y="2670048"/>
            <a:ext cx="329184" cy="329184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773168" y="2670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4773168" y="301752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certificate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6766560" y="2560320"/>
            <a:ext cx="1874520" cy="960120"/>
          </a:xfrm>
          <a:prstGeom prst="roundRect">
            <a:avLst>
              <a:gd name="adj" fmla="val 7619"/>
            </a:avLst>
          </a:prstGeom>
          <a:solidFill>
            <a:srgbClr val="EEF1F4"/>
          </a:solidFill>
          <a:ln w="12700">
            <a:solidFill>
              <a:srgbClr val="EEF1F4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876288" y="2670048"/>
            <a:ext cx="329184" cy="329184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876288" y="2670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6876288" y="301752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pandas + OpenCV code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457200" y="40233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reads every CSV cell, a Parquet footer or the header of every image, so the compiler knows types, missing values, value ranges, image sizes and channels before anything runs.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412480" y="475488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classic phase, written by hand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4023360" cy="960120"/>
          </a:xfrm>
          <a:prstGeom prst="roundRect">
            <a:avLst>
              <a:gd name="adj" fmla="val 7619"/>
            </a:avLst>
          </a:prstGeom>
          <a:solidFill>
            <a:srgbClr val="EEF1F4"/>
          </a:solidFill>
          <a:ln w="12700">
            <a:solidFill>
              <a:srgbClr val="EEF1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0700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Lexical analysis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52704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keywords in any case, numbers with exponents, line and column on every token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663440" y="1097280"/>
            <a:ext cx="4023360" cy="960120"/>
          </a:xfrm>
          <a:prstGeom prst="roundRect">
            <a:avLst>
              <a:gd name="adj" fmla="val 7619"/>
            </a:avLst>
          </a:prstGeom>
          <a:solidFill>
            <a:srgbClr val="EEF1F4"/>
          </a:solidFill>
          <a:ln w="12700">
            <a:solidFill>
              <a:srgbClr val="EEF1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46320" y="120700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Syntax analysis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846320" y="152704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LL(1) recursive descent, panic-mode recovery, did-you-mean hints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240280"/>
            <a:ext cx="4023360" cy="960120"/>
          </a:xfrm>
          <a:prstGeom prst="roundRect">
            <a:avLst>
              <a:gd name="adj" fmla="val 7619"/>
            </a:avLst>
          </a:prstGeom>
          <a:solidFill>
            <a:srgbClr val="EEF1F4"/>
          </a:solidFill>
          <a:ln w="12700">
            <a:solidFill>
              <a:srgbClr val="EEF1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235000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Symbol table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267004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scope; every dataset with the abstract state of its data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663440" y="2240280"/>
            <a:ext cx="4023360" cy="960120"/>
          </a:xfrm>
          <a:prstGeom prst="roundRect">
            <a:avLst>
              <a:gd name="adj" fmla="val 7619"/>
            </a:avLst>
          </a:prstGeom>
          <a:solidFill>
            <a:srgbClr val="EEF1F4"/>
          </a:solidFill>
          <a:ln w="12700">
            <a:solidFill>
              <a:srgbClr val="EEF1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46320" y="235000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analysis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267004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checks and a forward abstract interpretation over intervals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383280"/>
            <a:ext cx="4023360" cy="960120"/>
          </a:xfrm>
          <a:prstGeom prst="roundRect">
            <a:avLst>
              <a:gd name="adj" fmla="val 7619"/>
            </a:avLst>
          </a:prstGeom>
          <a:solidFill>
            <a:srgbClr val="EEF1F4"/>
          </a:solidFill>
          <a:ln w="12700">
            <a:solidFill>
              <a:srgbClr val="EEF1F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349300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Intermediate code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81304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quadruples; wildcards expanded; conditions as temporaries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663440" y="3383280"/>
            <a:ext cx="4023360" cy="960120"/>
          </a:xfrm>
          <a:prstGeom prst="roundRect">
            <a:avLst>
              <a:gd name="adj" fmla="val 7619"/>
            </a:avLst>
          </a:prstGeom>
          <a:solidFill>
            <a:srgbClr val="EEF1F4"/>
          </a:solidFill>
          <a:ln w="12700">
            <a:solidFill>
              <a:srgbClr val="EEF1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46320" y="349300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Optimization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4846320" y="381304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no-effect and check elimination, liveness-based column pruning, streaming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412480" y="475488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EXPECT gets a verdict at compile time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2606040" cy="3200400"/>
          </a:xfrm>
          <a:prstGeom prst="roundRect">
            <a:avLst>
              <a:gd name="adj" fmla="val 2807"/>
            </a:avLst>
          </a:prstGeom>
          <a:solidFill>
            <a:srgbClr val="EEF1F4"/>
          </a:solidFill>
          <a:ln w="12700">
            <a:solidFill>
              <a:srgbClr val="EEF1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325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386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PROVEN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87452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facts imply it, so no run-time check is generated.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10896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EXPECT marks BETWEEN 0 AND 100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values are in [35, 95]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46120" y="1143000"/>
            <a:ext cx="2606040" cy="3200400"/>
          </a:xfrm>
          <a:prstGeom prst="roundRect">
            <a:avLst>
              <a:gd name="adj" fmla="val 2807"/>
            </a:avLst>
          </a:prstGeom>
          <a:solidFill>
            <a:srgbClr val="EEF1F4"/>
          </a:solidFill>
          <a:ln w="12700">
            <a:solidFill>
              <a:srgbClr val="EEF1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29000" y="1325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54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VIOLATED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187452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breaks it: a compile error names the row or file.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310896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EXPECT marks BETWEEN 0 AND 90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 2 of s.csv has 100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035040" y="1143000"/>
            <a:ext cx="2606040" cy="3200400"/>
          </a:xfrm>
          <a:prstGeom prst="roundRect">
            <a:avLst>
              <a:gd name="adj" fmla="val 2807"/>
            </a:avLst>
          </a:prstGeom>
          <a:solidFill>
            <a:srgbClr val="EEF1F4"/>
          </a:solidFill>
          <a:ln w="12700">
            <a:solidFill>
              <a:srgbClr val="EEF1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0" y="1325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B65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DEFERRED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0" y="187452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decidable here: a check is generated, then assumed true.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0" y="310896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after FILTER marks &lt; 100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checked when the program runs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412480" y="475488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Facts about the data drive the optimizer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18872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of 40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87452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columns read after liveness-based pruning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3291840" y="118872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386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922 → 10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3291840" y="187452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MiB of memory for 1,000 images, streamed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126480" y="118872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exact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6126480" y="187452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rewrite keeps the output; RESIZE fusion only with --approx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288036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FILL_NULL on a column with no missing values, a FILTER that is always true, GRAYSCALE on 1-channel images: removed.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 of proven contracts: removed.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image steps up to a save: one loop that handles one image at a time.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412480" y="475488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New: data certificates, compile once and reuse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proof was valid only for the exact file it was compiled with. Tomorrow's file was refused, even with the same layout.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4846320" cy="2194560"/>
          </a:xfrm>
          <a:prstGeom prst="roundRect">
            <a:avLst>
              <a:gd name="adj" fmla="val 3333"/>
            </a:avLst>
          </a:prstGeom>
          <a:solidFill>
            <a:srgbClr val="EEF1F4"/>
          </a:solidFill>
          <a:ln w="12700">
            <a:solidFill>
              <a:srgbClr val="EEF1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874520"/>
            <a:ext cx="4572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4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students  (data had marks in [35, 95])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B24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name   STRING   no missing values   &lt;- line 6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B24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age    INTEGER  (any values)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B24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marks  INTEGER  &gt;= 0                &lt;- line 5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B24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&lt;= 100              &lt;- line 5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577840" y="1737360"/>
            <a:ext cx="31089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compiler analyses the program again with weaker facts and keeps only the facts some proof needs.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2386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 -3 generated.py students=next_week.csv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refused file is explained: the row, and the proof it would break.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41148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UNIQUE, REFERENCES and MATCH_RATE were proven from the values, so their checks stay and run only when an input changes.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412480" y="475488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certificate is found, and why it is safe</a:t>
            </a:r>
            <a:endParaRPr lang="en-US" sz="2800" dirty="0"/>
          </a:p>
        </p:txBody>
      </p:sp>
      <p:pic>
        <p:nvPicPr>
          <p:cNvPr id="4" name="Image 0" descr="C:\Users\atnik\Documents\ChatGPT\comp_v1\PrepLang\docs\review3\flow_certifica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3655397" cy="3840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0" y="1051560"/>
            <a:ext cx="384048" cy="38404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0" y="1051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120640" y="103327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Weaken one fact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5120640" y="1353312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 missing values, or move a bound to a program constant or infinity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572000" y="1984248"/>
            <a:ext cx="384048" cy="38404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572000" y="1984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5120640" y="19659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again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5120640" y="228600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whole semantic analysis, with no data read (facts replace files)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572000" y="2916936"/>
            <a:ext cx="384048" cy="38404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572000" y="29169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5120640" y="289864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or restore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5120640" y="321868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 weaker fact only if every proof and removal survives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572000" y="3849624"/>
            <a:ext cx="384048" cy="38404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572000" y="38496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5120640" y="3831336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5120640" y="4151376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monotone transfer functions: an input inside the certificate keeps every proof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412480" y="475488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86% of new batches reused safely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051560"/>
          <a:ext cx="512064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943600" y="118872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244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5943600" y="187452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batches for 7 compiled programs, each also compiled fresh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943600" y="237744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386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000" dirty="0"/>
          </a:p>
        </p:txBody>
      </p:sp>
      <p:sp>
        <p:nvSpPr>
          <p:cNvPr id="8" name="Text 5"/>
          <p:cNvSpPr txBox="1"/>
          <p:nvPr/>
        </p:nvSpPr>
        <p:spPr>
          <a:xfrm>
            <a:off x="5943600" y="30632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admitted runs that differ from a fresh compilation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943600" y="356616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000" dirty="0"/>
          </a:p>
        </p:txBody>
      </p:sp>
      <p:sp>
        <p:nvSpPr>
          <p:cNvPr id="10" name="Text 7"/>
          <p:cNvSpPr txBox="1"/>
          <p:nvPr/>
        </p:nvSpPr>
        <p:spPr>
          <a:xfrm>
            <a:off x="5943600" y="425196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refused batches that a fresh compilation accepts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412480" y="475488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 data, real scripts: no unsound run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4023360" cy="3291840"/>
          </a:xfrm>
          <a:prstGeom prst="roundRect">
            <a:avLst>
              <a:gd name="adj" fmla="val 2222"/>
            </a:avLst>
          </a:prstGeom>
          <a:solidFill>
            <a:srgbClr val="EEF1F4"/>
          </a:solidFill>
          <a:ln w="12700">
            <a:solidFill>
              <a:srgbClr val="EEF1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2344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monthly data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6002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 sensors and bike rentals (UCI), New York green taxi Parquet files 2022-2024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19456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86%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88036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238 new months admitted; the month's own facts: 1%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356616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admitted runs differ from a fresh compilation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663440" y="1097280"/>
            <a:ext cx="4023360" cy="3291840"/>
          </a:xfrm>
          <a:prstGeom prst="roundRect">
            <a:avLst>
              <a:gd name="adj" fmla="val 2222"/>
            </a:avLst>
          </a:prstGeom>
          <a:solidFill>
            <a:srgbClr val="EEF1F4"/>
          </a:solidFill>
          <a:ln w="12700">
            <a:solidFill>
              <a:srgbClr val="EEF1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92040" y="12344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pandas scripts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16002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372 Titanic scripts from GitHub; 124 held-out scripts lifted into PrepLang by a new front end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892040" y="219456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1347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4892040" y="288036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1364 runs on new batches give exactly the script's own result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892040" y="356616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admitted runs differ from the script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412480" y="475488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New: checking every cell beats a pandas read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051560"/>
          <a:ext cx="512064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943600" y="10972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million CSV rows x 10 columns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943600" y="1554480"/>
            <a:ext cx="27432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read, one piece per core, cut at line breaks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Cells viewed in place (string_view), no copies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Numbers parsed exactly in one pass (Clinger's fast path)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CRC-32 on its own thread; merge in file order gives the same facts and line numbers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412480" y="475488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Testing and evaluation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4023360" cy="1463040"/>
          </a:xfrm>
          <a:prstGeom prst="roundRect">
            <a:avLst>
              <a:gd name="adj" fmla="val 5000"/>
            </a:avLst>
          </a:prstGeom>
          <a:solidFill>
            <a:srgbClr val="EEF1F4"/>
          </a:solidFill>
          <a:ln w="12700">
            <a:solidFill>
              <a:srgbClr val="EEF1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18872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207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87452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tests in 9 programs, all passing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663440" y="1097280"/>
            <a:ext cx="4023360" cy="1463040"/>
          </a:xfrm>
          <a:prstGeom prst="roundRect">
            <a:avLst>
              <a:gd name="adj" fmla="val 5000"/>
            </a:avLst>
          </a:prstGeom>
          <a:solidFill>
            <a:srgbClr val="EEF1F4"/>
          </a:solidFill>
          <a:ln w="12700">
            <a:solidFill>
              <a:srgbClr val="EEF1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92040" y="118872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386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4892040" y="187452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recorded test cases: valid, invalid, boundary, run time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788920"/>
            <a:ext cx="4023360" cy="1463040"/>
          </a:xfrm>
          <a:prstGeom prst="roundRect">
            <a:avLst>
              <a:gd name="adj" fmla="val 5000"/>
            </a:avLst>
          </a:prstGeom>
          <a:solidFill>
            <a:srgbClr val="EEF1F4"/>
          </a:solidFill>
          <a:ln w="12700">
            <a:solidFill>
              <a:srgbClr val="EEF1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288036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 / 24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356616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injected mistakes reported before processing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663440" y="2788920"/>
            <a:ext cx="4023360" cy="1463040"/>
          </a:xfrm>
          <a:prstGeom prst="roundRect">
            <a:avLst>
              <a:gd name="adj" fmla="val 5000"/>
            </a:avLst>
          </a:prstGeom>
          <a:solidFill>
            <a:srgbClr val="EEF1F4"/>
          </a:solidFill>
          <a:ln w="12700">
            <a:solidFill>
              <a:srgbClr val="EEF1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92040" y="288036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386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 / 44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4892040" y="356616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GitHub failures reported before processing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412480" y="475488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Demonstration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384048" cy="38404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097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133856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3200400" y="1133856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Ctrl + Shift + B in VS Code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810512"/>
            <a:ext cx="384048" cy="38404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1810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184708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Compile and run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3200400" y="184708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students.prep: every phase, then the cleaned file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2523744"/>
            <a:ext cx="384048" cy="38404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5237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25603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the errors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3200400" y="25603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examples/errors: line, caret and hint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457200" y="3236976"/>
            <a:ext cx="384048" cy="38404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2369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05840" y="327355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Certificate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3200400" y="3273552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--certificate, then run on a new batch and a bad one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457200" y="3950208"/>
            <a:ext cx="384048" cy="38404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005840" y="3986784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3200400" y="3986784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all tests: 9 programs pass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71600"/>
            <a:ext cx="78638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the data at compile time turns data mistakes into compile errors with clear messages.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Contracts are proven, refuted or checked; optimizations stay exact.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certificates reuse one compilation on new data: 86% of new batches, with no unsound run.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certificates for image folders, joins and dates, a native backend.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20624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PrepLang: Phase 3 Final Review</dc:title>
  <dc:subject>PptxGenJS Presentation</dc:subject>
  <dc:creator>V.Nikhil</dc:creator>
  <cp:lastModifiedBy>V.Nikhil</cp:lastModifiedBy>
  <cp:revision>1</cp:revision>
  <dcterms:created xsi:type="dcterms:W3CDTF">2026-10-07T11:00:07Z</dcterms:created>
  <dcterms:modified xsi:type="dcterms:W3CDTF">2026-10-07T11:00:07Z</dcterms:modified>
</cp:coreProperties>
</file>